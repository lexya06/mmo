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6" r:id="rId15"/>
    <p:sldId id="307" r:id="rId16"/>
    <p:sldId id="309" r:id="rId17"/>
    <p:sldId id="314" r:id="rId18"/>
    <p:sldId id="310" r:id="rId19"/>
    <p:sldId id="311" r:id="rId20"/>
    <p:sldId id="312" r:id="rId21"/>
    <p:sldId id="313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269" r:id="rId31"/>
    <p:sldId id="270" r:id="rId32"/>
    <p:sldId id="271" r:id="rId33"/>
    <p:sldId id="272" r:id="rId34"/>
    <p:sldId id="273" r:id="rId35"/>
    <p:sldId id="274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9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77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76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29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6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17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56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01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34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98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347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35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12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77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9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90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201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impute.html" TargetMode="External"/><Relationship Id="rId2" Type="http://schemas.openxmlformats.org/officeDocument/2006/relationships/hyperlink" Target="https://scikit-learn.org/stable/modules/preprocessing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cikit-learn.org/stable/modules/compos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150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112745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и Feature Engineering:</a:t>
            </a:r>
            <a:endParaRPr lang="en-US" sz="4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теория, математика, Python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от сырых данных до готового ML-pipeline в scikit-learn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 · Вводный блок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предобработка данных решает результат модели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«Garbage in — garbage out»: качество модели никогда не превышает качество данных, на которых она обучена.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154680" cy="196596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 ML-проекта уходит на подготовку и очистку данных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331720"/>
            <a:ext cx="1508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3317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3317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0" y="2331720"/>
            <a:ext cx="1508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3317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23317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43800" y="2331720"/>
            <a:ext cx="1508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3317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23317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26880" y="2331720"/>
            <a:ext cx="1508760" cy="822960"/>
          </a:xfrm>
          <a:prstGeom prst="rect">
            <a:avLst/>
          </a:prstGeom>
          <a:solidFill>
            <a:srgbClr val="0E6E63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3317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342900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провалов моделей из-за плохих данных: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3794760"/>
            <a:ext cx="7726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Пропущенные значения без обработки → ошибки на этапе обучения или искажённые статистики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Невыявленные выбросы → смещённые коэффициенты линейной регрессии, медленная сходимость градиентных методов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Немасштабированные признаки → доминирование признаков с большим диапазоном в KNN, SVM, нейросетях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предобработка данных — не техническая рутина, а этап, определяющий потолок качества модели.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 · Вводный блок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Шаги 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267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Пропущенные данные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SimpleImputer, MCAR/MAR/MNAR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267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Выбросы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834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IQR, Winsorizing, кастомный трансформер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2267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Масштабирование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75320" y="2834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MinMaxScaler, RobustScaler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5079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Кодирование категорий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OneHotEncoder, OrdinalEncoder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51960" y="379476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45079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8056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datetime, полиномы, взаимодействия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79476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75320" y="45079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в sklearn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7532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ColumnTransformer, GridSearchCV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изучения соответствует реальному порядку шагов предобработки данных в проекте.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 · Вводный блок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 и окружение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библиотек, используемый во </a:t>
            </a:r>
            <a:r>
              <a:rPr lang="en-US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</a:t>
            </a: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примерах</a:t>
            </a: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48840" cy="7772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реализации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1874520"/>
            <a:ext cx="2148840" cy="7772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таблицы, DataFrame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874520"/>
            <a:ext cx="2148840" cy="7772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численные операции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1874520"/>
            <a:ext cx="2148840" cy="7772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и трансформеры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1874520"/>
            <a:ext cx="2148840" cy="7772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 / seaborn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0215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scikit-learn pandas numpy matplotlib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Импорт-заготовка, используемая во всех примерах: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11274552" cy="192024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36592"/>
            <a:ext cx="108173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set_config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удобный вывод в виде DataFrame вместо numpy-массива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set_config(transform_output="pandas")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Пропущенные данные: типы, причины, стратегии обработки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пропусков: MCAR, MAR, MNAR (классификация Rubin)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пропусков в pandas и missingno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Стратегии: удаление vs импутация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— теория и код (числовые и категориальные признаки)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пропуска как отдельный признак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почему fit только на train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Типы пропусков (теория)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Rubin (1976) — тип пропуска определяет корректную стратегию импутации: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5661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Completely At Random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не зависит ни от наблюдаемых, ни от ненаблюдаемых данных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5661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Random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зависит от наблюдаемых переменных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MNAR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Not At Random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зависит от ненаблюдаемых (скрытых) значений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1274552" cy="10058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данные,  M — индикатор пропуска</a:t>
            </a:r>
            <a:endParaRPr lang="en-US" sz="1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MCAR:   P(M | Y_obs, Y_mis) = P(M)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7200" y="49834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MCAR удаление строк безопасно; при MAR/MNAR удаление вносит систематическое смещение — нужна импутация.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Диагностика пропусков в pandas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858000" cy="274320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64008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().sum()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().mean() * 100  # доля пропусков в %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missingno as msno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msno.matrix(df)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msno.heatmap(df)  # корреляция пропусков между колонками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463040"/>
            <a:ext cx="4142232" cy="27432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0020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смотрим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1965960"/>
            <a:ext cx="3776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и доля пропусков по каждой колонке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паттерн пропусков (matrix)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пропусков между колонками (heatmap) — признак системности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показывает, есть ли системные (не случайные) пропуски — если пропуски в разных колонках сильно коррелируют, вероятен MAR или MNAR, а не MCAR.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Стратегии обработки: удаление vs импутация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406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Удаление (listwise deletion)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— когда доля пропусков мала (&lt; 5%) и данные MCAR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Столбцов — когда пропусков &gt; 60–70%</a:t>
            </a:r>
            <a:endParaRPr lang="ru-RU" sz="14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потеря статистической мощности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смещение оценок при MAR/MNAR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440680" cy="28346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Импутация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подход, сохраняющий объём данных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Заменяет пропуск статистикой (mean/median/most_frequent) или моделью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осторожности: не искажать распределение и не создавать утечку данных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Математический риск удаления: потеря статистической мощности выборки и смещение оценок при MAR/MNAR — импутация в таких случаях предпочтительнее.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SimpleImputer: базовая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Формальное определение: замена пропущенного значения xᵢⱼ статистикой x̂ᵢⱼ = f(X·ⱼ), где f — mean, median, most_frequent или константа.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   x̂ = (1 / n) · Σᵢ₌₁ⁿ xᵢ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 x̂ = x⌈n/2⌉   (среднее значение упорядоченного ряда)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медиана устойчивее среднего к выбросам: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чувствительно к каждому значению — один экстремальный выброс сдвигает mean() значительно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зависит только от порядка значений — устойчива (робастна) к </a:t>
            </a:r>
            <a:r>
              <a:rPr lang="en-US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экстремумам</a:t>
            </a:r>
            <a:endParaRPr lang="ru-RU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скошенном распределении или наличии выбросов </a:t>
            </a:r>
            <a:r>
              <a:rPr lang="en-US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median()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SimpleImputer: код для числовых признаков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858000" cy="329184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640080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df[['age', 'income']]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imputer = SimpleImputer(strategy='median')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X_imputed = imputer.fit_transform(X)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Просмотр статистик, использованных для заполнения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print(imputer.statistics_)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463040"/>
            <a:ext cx="4142232" cy="32918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0020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Параметры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1965960"/>
            <a:ext cx="3776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mean / median / most_frequent / constant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fill_value — значение для strategy="constant"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missing_values — что считать пропуском (по умолчанию np.nan)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add_indicator — добавить бинарный индикатор пропуска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937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statistics_ хранит значения (mean/median по каждой колонке), вычисленные на train — их же применяют к test через transform().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SimpleImputer: категориальные признаки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74552" cy="274320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1081735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cat_imputer = SimpleImputer(strategy='most_frequent')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df[['city', 'category']] = cat_imputer.fit_transform(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df[['city', 'category']])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Импутация константой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const_imputer = SimpleImputer(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strategy='constant', fill_value='Unknown')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1274552" cy="13716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Риск most_frequent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93776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most_frequent искажает распределение категорий — риск усиления мажоритарного класса: если "Москва" уже встречается чаще всего, импутация ею делает выборку ещё более несбалансированной, что может повлиять на модель.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Индикатор пропуска как отдельный признак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сам факт пропуска может нести информацию (особенно при MNAR) — например, отсутствие ответа на вопрос о доходе часто коррелирует с самим доходом.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4552" cy="128016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108173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imputer = SimpleImputer(strategy='mean', add_indicator=True)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= imputer.fit_transform(X)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добавляется бинарная матрица missing_indicator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Продвинутые альтернативы (упоминание без глубокого разбора):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KNNImputer — заполняет пропуск на основе k ближайших соседей по остальным признакам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IterativeImputer (MICE) — моделирует каждый признак как функцию остальных, итеративно уточняя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Важно: fit только на train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6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600" b="1" dirty="0" err="1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очему</a:t>
            </a:r>
            <a:r>
              <a:rPr lang="en-US" sz="16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нельзя считать статистику импутации на всём датасете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mean/median вычисляются по train+test вместе, информация о test "просачивается" в обучение — оценка качества модели становится оптимистично смещённой (нереалистичной).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Правильная последовательность: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1274552" cy="6858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 →  fit_transform(train)  →  transform(test)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1274552" cy="214884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050792"/>
            <a:ext cx="1081735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 = train_test_split(X, test_size=0.2, random_state=42)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imputer = SimpleImputer(strategy='median')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X_train_imp = imputer.fit_transform(X_train)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X_test_imp = imputer.transform(X_test)  # НЕ fit_transform!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Удаление пропусков: идея метода .</a:t>
            </a:r>
            <a:r>
              <a:rPr lang="ru-RU" sz="3000" b="1" dirty="0" err="1">
                <a:solidFill>
                  <a:srgbClr val="1A1F1E"/>
                </a:solidFill>
                <a:latin typeface="Trebuchet MS" pitchFamily="34" charset="0"/>
              </a:rPr>
              <a:t>dropna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65607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— стандартный метод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удаления строк или столбцов, содержащих пропуски.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/>
              <a:t>По умолчанию удаляет строки, в которых есть хотя бы один </a:t>
            </a:r>
            <a:r>
              <a:rPr lang="ru-RU" sz="1500" dirty="0" err="1"/>
              <a:t>NaN</a:t>
            </a:r>
            <a:r>
              <a:rPr lang="ru-RU" sz="1500" dirty="0"/>
              <a:t>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/>
              <a:t>Метод уместен, если число пропусков невелико или пропуски относятся к несущественным наблюдениям.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630079"/>
            <a:ext cx="11274552" cy="6400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210" y="3810207"/>
            <a:ext cx="10817352" cy="45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950F712-01F3-BCC4-CE33-971B014E4FD3}"/>
              </a:ext>
            </a:extLst>
          </p:cNvPr>
          <p:cNvSpPr/>
          <p:nvPr/>
        </p:nvSpPr>
        <p:spPr>
          <a:xfrm>
            <a:off x="457200" y="4856085"/>
            <a:ext cx="11274552" cy="102981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AC30667-34A2-0306-A794-A4D4E2BD4405}"/>
              </a:ext>
            </a:extLst>
          </p:cNvPr>
          <p:cNvSpPr/>
          <p:nvPr/>
        </p:nvSpPr>
        <p:spPr>
          <a:xfrm>
            <a:off x="694678" y="500523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Риск</a:t>
            </a:r>
            <a:r>
              <a:rPr lang="ru-RU" sz="14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.</a:t>
            </a:r>
            <a:r>
              <a:rPr lang="en-US" sz="1400" b="1" dirty="0" err="1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dropna</a:t>
            </a:r>
            <a:r>
              <a:rPr lang="en-US" sz="14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() </a:t>
            </a:r>
            <a:endParaRPr lang="en-US" sz="1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48D0A34-DF75-3334-C365-81961CC1DEB6}"/>
              </a:ext>
            </a:extLst>
          </p:cNvPr>
          <p:cNvSpPr/>
          <p:nvPr/>
        </p:nvSpPr>
        <p:spPr>
          <a:xfrm>
            <a:off x="694678" y="54406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Неконтролируемое применение может существенно уменьшить объем выборки.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4702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Значение .</a:t>
            </a:r>
            <a:r>
              <a:rPr lang="en-US" sz="3000" b="1" dirty="0" err="1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dropna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() 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 умолчанию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</a:t>
            </a:r>
            <a:r>
              <a:rPr lang="en-US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df.dropna</a:t>
            </a: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эквивалентен: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" y="1838210"/>
            <a:ext cx="11274552" cy="519432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31246"/>
            <a:ext cx="10817352" cy="38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(axis=0, how='any')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69748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означает удаление строк.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ru-RU" sz="1500" b="1" dirty="0" err="1"/>
              <a:t>how</a:t>
            </a:r>
            <a:r>
              <a:rPr lang="ru-RU" sz="1500" b="1" dirty="0"/>
              <a:t>='</a:t>
            </a:r>
            <a:r>
              <a:rPr lang="ru-RU" sz="1500" b="1" dirty="0" err="1"/>
              <a:t>any</a:t>
            </a:r>
            <a:r>
              <a:rPr lang="ru-RU" sz="1500" b="1" dirty="0"/>
              <a:t>' </a:t>
            </a:r>
            <a:r>
              <a:rPr lang="ru-RU" sz="1500" dirty="0"/>
              <a:t>означает: удалить строку, если в ней присутствует хотя бы один пропуск.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ru-RU" sz="1500" dirty="0"/>
              <a:t>Метод возвращает новый </a:t>
            </a:r>
            <a:r>
              <a:rPr lang="ru-RU" sz="1500" dirty="0" err="1"/>
              <a:t>DataFrame</a:t>
            </a:r>
            <a:r>
              <a:rPr lang="ru-RU" sz="1500" dirty="0"/>
              <a:t>; исходный объект не меняется.</a:t>
            </a:r>
            <a:endParaRPr lang="en-US" sz="15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91A7E61-FA11-81E8-2261-65EE5664E587}"/>
              </a:ext>
            </a:extLst>
          </p:cNvPr>
          <p:cNvSpPr/>
          <p:nvPr/>
        </p:nvSpPr>
        <p:spPr>
          <a:xfrm>
            <a:off x="457200" y="3886200"/>
            <a:ext cx="11274552" cy="2310414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7263D6C-F966-D7EF-2AE0-83018B9C3DCB}"/>
              </a:ext>
            </a:extLst>
          </p:cNvPr>
          <p:cNvSpPr/>
          <p:nvPr/>
        </p:nvSpPr>
        <p:spPr>
          <a:xfrm>
            <a:off x="685800" y="4050792"/>
            <a:ext cx="1081735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np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'age': [25, 31,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45],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'income': [1200,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1800, 2500],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'target': [0, 1, 0, 1]})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77A8271-F8B1-9CBF-311E-2D6B0CC1DC25}"/>
              </a:ext>
            </a:extLst>
          </p:cNvPr>
          <p:cNvSpPr/>
          <p:nvPr/>
        </p:nvSpPr>
        <p:spPr>
          <a:xfrm>
            <a:off x="457200" y="63894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останутся только строки, где заполнены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44888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Удаление только полностью пустых строк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58025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всегда нужно удалять строку из-за одного пропуска.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удаляет строку только тогда, когда все ее значения являются пропусками.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Такой вариант полезен при объединении файлов, ручном вводе или наличии пустых служебных строк.</a:t>
            </a:r>
            <a:endParaRPr lang="en-US" sz="15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91A7E61-FA11-81E8-2261-65EE5664E587}"/>
              </a:ext>
            </a:extLst>
          </p:cNvPr>
          <p:cNvSpPr/>
          <p:nvPr/>
        </p:nvSpPr>
        <p:spPr>
          <a:xfrm>
            <a:off x="457200" y="3374092"/>
            <a:ext cx="11274552" cy="1937551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7263D6C-F966-D7EF-2AE0-83018B9C3DCB}"/>
              </a:ext>
            </a:extLst>
          </p:cNvPr>
          <p:cNvSpPr/>
          <p:nvPr/>
        </p:nvSpPr>
        <p:spPr>
          <a:xfrm>
            <a:off x="612648" y="3542731"/>
            <a:ext cx="10817352" cy="163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'age': [25,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'income': [1200,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1800],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'target': [0,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1]})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(how='all')</a:t>
            </a:r>
            <a:endParaRPr lang="en-US" sz="15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77A8271-F8B1-9CBF-311E-2D6B0CC1DC25}"/>
              </a:ext>
            </a:extLst>
          </p:cNvPr>
          <p:cNvSpPr/>
          <p:nvPr/>
        </p:nvSpPr>
        <p:spPr>
          <a:xfrm>
            <a:off x="457200" y="5713935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останутся только строки, где заполнены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30811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Параметр 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.</a:t>
            </a:r>
            <a:r>
              <a:rPr lang="en-US" sz="3000" b="1" dirty="0" err="1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dropna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58025"/>
            <a:ext cx="11274552" cy="100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определяет условие, при котором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удаляет строку или столбец с пропусками. </a:t>
            </a:r>
            <a:endParaRPr lang="en-US" sz="1500" b="1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b="1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Возможны два значения: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по умолчанию используется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how='any'</a:t>
            </a:r>
            <a:endParaRPr lang="en-US" sz="15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77A8271-F8B1-9CBF-311E-2D6B0CC1DC25}"/>
              </a:ext>
            </a:extLst>
          </p:cNvPr>
          <p:cNvSpPr/>
          <p:nvPr/>
        </p:nvSpPr>
        <p:spPr>
          <a:xfrm>
            <a:off x="429768" y="5021521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строгая очистка, быстро сокращающая выборку; </a:t>
            </a: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b="1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— мягкая очистка, удаляющая лишь полностью пустые наблюдения.</a:t>
            </a:r>
            <a:endParaRPr lang="en-US" sz="15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45AD18F-B17B-C806-8308-98B1391E9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499640"/>
              </p:ext>
            </p:extLst>
          </p:nvPr>
        </p:nvGraphicFramePr>
        <p:xfrm>
          <a:off x="429768" y="2980944"/>
          <a:ext cx="10515600" cy="1600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7265638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92338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5564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Значение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Логика удаления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Когда применять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85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how='any'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Удалить строку/столбец, если найден хотя бы один 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Если все значения в выбранных признаках критичны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66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how='all'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Удалить строку/столбец, только если все значения являются 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Если частично заполненные записи имеют ценность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522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82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Удаление строк по критически важным признакам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пропуски допустимы не во всех признаках одинаково.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задает список столбцов, по которым проверяется наличие пропусков.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 ситуация: удалить объект без целевой переменной или без критически важного бизнес-признака, но сохранить объект с пропуском в дополнительном поле.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572610" y="3645615"/>
            <a:ext cx="11274552" cy="6400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210" y="3810207"/>
            <a:ext cx="10817352" cy="45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(subset=['income', 'target'])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2610" y="4834335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/>
              <a:t>Будут удалены строки, где пропущен </a:t>
            </a:r>
            <a:r>
              <a:rPr lang="ru-RU" sz="1500" dirty="0" err="1"/>
              <a:t>income</a:t>
            </a:r>
            <a:r>
              <a:rPr lang="ru-RU" sz="1500" dirty="0"/>
              <a:t> или </a:t>
            </a:r>
            <a:r>
              <a:rPr lang="ru-RU" sz="1500" dirty="0" err="1"/>
              <a:t>target</a:t>
            </a:r>
            <a:r>
              <a:rPr lang="ru-RU" sz="1500" dirty="0"/>
              <a:t>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/>
              <a:t>Пропуски, например, в </a:t>
            </a:r>
            <a:r>
              <a:rPr lang="ru-RU" sz="1500" dirty="0" err="1"/>
              <a:t>age</a:t>
            </a:r>
            <a:r>
              <a:rPr lang="ru-RU" sz="1500" dirty="0"/>
              <a:t>, </a:t>
            </a:r>
            <a:r>
              <a:rPr lang="ru-RU" sz="1500" dirty="0" err="1"/>
              <a:t>city</a:t>
            </a:r>
            <a:r>
              <a:rPr lang="ru-RU" sz="1500" dirty="0"/>
              <a:t> или </a:t>
            </a:r>
            <a:r>
              <a:rPr lang="ru-RU" sz="1500" dirty="0" err="1"/>
              <a:t>comment</a:t>
            </a:r>
            <a:r>
              <a:rPr lang="ru-RU" sz="1500" dirty="0"/>
              <a:t>, не повлияют на сохранение строки.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54186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Удаление столбцов с пропусками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задает удаление столбцов, а не строк.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df.dropna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=1)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удалит каждый признак, в котором есть хотя бы один пропуск.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 применим только для второстепенных признаков с малой аналитической ценностью; для реальных данных он часто слишком агрессивен.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572610" y="3645615"/>
            <a:ext cx="11274552" cy="6400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210" y="3810207"/>
            <a:ext cx="10817352" cy="45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df_reduced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(axis=1)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563EE23-D7B4-7A99-4F0D-4E4C6F4C1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14301"/>
              </p:ext>
            </p:extLst>
          </p:nvPr>
        </p:nvGraphicFramePr>
        <p:xfrm>
          <a:off x="572610" y="4816412"/>
          <a:ext cx="10515600" cy="701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96009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43782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Исходные столбцы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После </a:t>
                      </a:r>
                      <a:r>
                        <a:rPr lang="en-US">
                          <a:effectLst/>
                        </a:rPr>
                        <a:t>dropna(axis=1)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93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age, income, target, city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Останутся только столбцы без </a:t>
                      </a:r>
                      <a:r>
                        <a:rPr lang="ru-RU" dirty="0" err="1">
                          <a:effectLst/>
                        </a:rPr>
                        <a:t>NaN</a:t>
                      </a:r>
                      <a:r>
                        <a:rPr lang="ru-RU" dirty="0">
                          <a:effectLst/>
                        </a:rPr>
                        <a:t> </a:t>
                      </a:r>
                      <a:r>
                        <a:rPr lang="ru-RU" dirty="0" err="1">
                          <a:effectLst/>
                        </a:rPr>
                        <a:t>leolukin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51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367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Минимум заполненных значений: параметр thresh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1158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 задает минимальное число непропущенных значений, необходимое для сохранения строки или столбца.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удобнее, чем жесткое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',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разрешено несколько пропусков.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нельзя использовать одновременно.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545976" y="3104078"/>
            <a:ext cx="11274552" cy="6400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4576" y="3268670"/>
            <a:ext cx="10817352" cy="45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(thresh=3)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63E21DC-DCF3-27E6-85F6-CD32C9607C5C}"/>
              </a:ext>
            </a:extLst>
          </p:cNvPr>
          <p:cNvSpPr/>
          <p:nvPr/>
        </p:nvSpPr>
        <p:spPr>
          <a:xfrm>
            <a:off x="545976" y="4380908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сохранится, если в ней есть как минимум 3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непустрых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значения.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таблицы из 5 признаков можно разрешить до 2 пропусков в строке.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1771613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Безопасное применение .</a:t>
            </a:r>
            <a:r>
              <a:rPr lang="en-US" sz="3000" b="1" dirty="0" err="1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dropna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58025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удаления посчитать число строк: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удаления оценить потери: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df_clean.shape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Рассчитать долю удаленных объектов:</a:t>
            </a:r>
            <a:endParaRPr lang="en-US" sz="15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91A7E61-FA11-81E8-2261-65EE5664E587}"/>
              </a:ext>
            </a:extLst>
          </p:cNvPr>
          <p:cNvSpPr/>
          <p:nvPr/>
        </p:nvSpPr>
        <p:spPr>
          <a:xfrm>
            <a:off x="457200" y="3024256"/>
            <a:ext cx="11274552" cy="653217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7263D6C-F966-D7EF-2AE0-83018B9C3DCB}"/>
              </a:ext>
            </a:extLst>
          </p:cNvPr>
          <p:cNvSpPr/>
          <p:nvPr/>
        </p:nvSpPr>
        <p:spPr>
          <a:xfrm>
            <a:off x="612648" y="3174258"/>
            <a:ext cx="10817352" cy="48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loss_rate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1 -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(df_clean) /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</a:t>
            </a:r>
            <a:endParaRPr lang="en-US" sz="15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77A8271-F8B1-9CBF-311E-2D6B0CC1DC25}"/>
              </a:ext>
            </a:extLst>
          </p:cNvPr>
          <p:cNvSpPr/>
          <p:nvPr/>
        </p:nvSpPr>
        <p:spPr>
          <a:xfrm>
            <a:off x="457200" y="3952273"/>
            <a:ext cx="11274552" cy="9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распределение целевой переменной до и после очистки.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Применять .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к обучающей выборке после разбиения на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чтобы контролировать риск утечки и смещения.</a:t>
            </a:r>
            <a:endParaRPr lang="en-US" sz="15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0723E4F9-33FC-671A-3859-B76DD08CCC89}"/>
              </a:ext>
            </a:extLst>
          </p:cNvPr>
          <p:cNvSpPr/>
          <p:nvPr/>
        </p:nvSpPr>
        <p:spPr>
          <a:xfrm>
            <a:off x="457200" y="4977709"/>
            <a:ext cx="11274552" cy="1563802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3B6A703-E1A7-C0D6-5E0B-85F7385CB4FB}"/>
              </a:ext>
            </a:extLst>
          </p:cNvPr>
          <p:cNvSpPr/>
          <p:nvPr/>
        </p:nvSpPr>
        <p:spPr>
          <a:xfrm>
            <a:off x="612648" y="5166395"/>
            <a:ext cx="10817352" cy="130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(subset=['target', 'income’])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=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df_clean.shape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</a:t>
            </a:r>
            <a:r>
              <a:rPr lang="ru-RU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Удалено строк: {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- after}')print(f'</a:t>
            </a:r>
            <a:r>
              <a:rPr lang="ru-RU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Осталось строк: {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after}')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62033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Интерполяция как метод заполнения пропусков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6993"/>
            <a:ext cx="11274552" cy="210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Интерполяция — оценка пропущенного значения по известным соседним точкам.</a:t>
            </a: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заполнения средним или медианой, метод учитывает порядок наблюдений и динамику показателя.</a:t>
            </a: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Наиболее корректное применение: временные ряды, последовательные измерения, данные наблюдений с регулярным шагом.</a:t>
            </a:r>
            <a:endParaRPr lang="en-US" sz="1500" b="1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 следует применять к номинальным категориальным признакам, идентификаторам и неупорядоченным строкам.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929195"/>
            <a:ext cx="11274552" cy="6400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093787"/>
            <a:ext cx="10817352" cy="45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sales_interpolated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 = df['sales'].interpolate()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63E21DC-DCF3-27E6-85F6-CD32C9607C5C}"/>
              </a:ext>
            </a:extLst>
          </p:cNvPr>
          <p:cNvSpPr/>
          <p:nvPr/>
        </p:nvSpPr>
        <p:spPr>
          <a:xfrm>
            <a:off x="457200" y="5434843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линейной интерполяции значение для дня 3 будет равно 140.</a:t>
            </a:r>
            <a:endParaRPr lang="ru-RU" sz="1500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6F6794A-DC02-9B5A-7415-C310E7173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186"/>
              </p:ext>
            </p:extLst>
          </p:nvPr>
        </p:nvGraphicFramePr>
        <p:xfrm>
          <a:off x="527481" y="3489182"/>
          <a:ext cx="10515600" cy="1752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742672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1960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День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Продажи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2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100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770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120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4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160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44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001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Интерполяция: доступные методы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11580"/>
            <a:ext cx="11274552" cy="168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Интерполяция восстанавливает числовые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соседним наблюдениям, индексу или форме зависимости.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метода зависит от типа данных, порядка наблюдений, расстояния между точками и ожидаемой динамики.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применением необходимо проверить сортировку временного/числового индекса и смысл допущения о восстановлении.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498966"/>
            <a:ext cx="11274552" cy="826512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064" y="5591075"/>
            <a:ext cx="10817352" cy="63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df['sales'] = df['sales'].interpolate(   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method='linear’)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63E21DC-DCF3-27E6-85F6-CD32C9607C5C}"/>
              </a:ext>
            </a:extLst>
          </p:cNvPr>
          <p:cNvSpPr/>
          <p:nvPr/>
        </p:nvSpPr>
        <p:spPr>
          <a:xfrm>
            <a:off x="447819" y="6417587"/>
            <a:ext cx="11274552" cy="483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методы нужны для коротких и понятных пропусков; сложные методы требуют проверки формы данных и качества результата.</a:t>
            </a:r>
            <a:endParaRPr lang="ru-RU" sz="15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F3D0A6D-4D00-F3AA-D099-8DBE43482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962200"/>
              </p:ext>
            </p:extLst>
          </p:nvPr>
        </p:nvGraphicFramePr>
        <p:xfrm>
          <a:off x="457200" y="2129086"/>
          <a:ext cx="11099216" cy="3297175"/>
        </p:xfrm>
        <a:graphic>
          <a:graphicData uri="http://schemas.openxmlformats.org/drawingml/2006/table">
            <a:tbl>
              <a:tblPr/>
              <a:tblGrid>
                <a:gridCol w="3294470">
                  <a:extLst>
                    <a:ext uri="{9D8B030D-6E8A-4147-A177-3AD203B41FA5}">
                      <a16:colId xmlns:a16="http://schemas.microsoft.com/office/drawing/2014/main" val="28447667"/>
                    </a:ext>
                  </a:extLst>
                </a:gridCol>
                <a:gridCol w="3373337">
                  <a:extLst>
                    <a:ext uri="{9D8B030D-6E8A-4147-A177-3AD203B41FA5}">
                      <a16:colId xmlns:a16="http://schemas.microsoft.com/office/drawing/2014/main" val="1576569922"/>
                    </a:ext>
                  </a:extLst>
                </a:gridCol>
                <a:gridCol w="4431409">
                  <a:extLst>
                    <a:ext uri="{9D8B030D-6E8A-4147-A177-3AD203B41FA5}">
                      <a16:colId xmlns:a16="http://schemas.microsoft.com/office/drawing/2014/main" val="1706187387"/>
                    </a:ext>
                  </a:extLst>
                </a:gridCol>
              </a:tblGrid>
              <a:tr h="250922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Группа методов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Примеры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Логика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253410"/>
                  </a:ext>
                </a:extLst>
              </a:tr>
              <a:tr h="447295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Перенос значения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pad, ffill, bfill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Копирование предыдущего или следующего наблюдения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529045"/>
                  </a:ext>
                </a:extLst>
              </a:tr>
              <a:tr h="447295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Базовая интерполяция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linear, index, time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Расчет промежуточного значения по прямой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388498"/>
                  </a:ext>
                </a:extLst>
              </a:tr>
              <a:tr h="447295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 ближайшей точке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nearest, zero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Использование ближайшего либо предыдущего узла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871966"/>
                  </a:ext>
                </a:extLst>
              </a:tr>
              <a:tr h="447295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Нелинейная интерполяция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polynomial, quadratic, cubic, spline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Восстановление с учетом изгиба траектории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643531"/>
                  </a:ext>
                </a:extLst>
              </a:tr>
              <a:tr h="447295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Локальные сглаживающие методы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pchip, akima, cubicspline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Гладкая кривая без единого глобального полинома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986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143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55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989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</a:rPr>
              <a:t>Padding: 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 заполнение из прошлого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42529"/>
            <a:ext cx="11274552" cy="210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 последнее известное значение вперед по индексу.</a:t>
            </a: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современных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равнозначный и более наглядный вызов — 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не вычисляет новое значение, а считает, что состояние сохраняется до следующего наблюдения.</a:t>
            </a: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для статусов, тарифов, категорий и дискретных событий; применять к быстро меняющимся числовым рядам нужно осторожно.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410011"/>
            <a:ext cx="11239784" cy="1326365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5477105"/>
            <a:ext cx="10817352" cy="112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df['status'] = df['status'].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ffill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>
              <a:lnSpc>
                <a:spcPct val="125000"/>
              </a:lnSpc>
            </a:pPr>
            <a:endParaRPr lang="en-US" sz="1500" dirty="0">
              <a:solidFill>
                <a:srgbClr val="9FE6D8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500" dirty="0">
                <a:solidFill>
                  <a:srgbClr val="9FE6D8"/>
                </a:solidFill>
                <a:latin typeface="Courier New" pitchFamily="34" charset="0"/>
                <a:cs typeface="Courier New" pitchFamily="34" charset="-120"/>
              </a:rPr>
              <a:t># </a:t>
            </a:r>
            <a:r>
              <a:rPr lang="ru-RU" sz="1500" dirty="0">
                <a:solidFill>
                  <a:srgbClr val="9FE6D8"/>
                </a:solidFill>
                <a:latin typeface="Courier New" pitchFamily="34" charset="0"/>
                <a:cs typeface="Courier New" pitchFamily="34" charset="-120"/>
              </a:rPr>
              <a:t>Концептуально:</a:t>
            </a:r>
            <a:endParaRPr lang="en-US" sz="1500" dirty="0">
              <a:solidFill>
                <a:srgbClr val="9FE6D8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df['status'] = df['status'].interpolate(method='pad')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ACE23537-EF02-C2E9-7C72-F74C4363D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873021"/>
              </p:ext>
            </p:extLst>
          </p:nvPr>
        </p:nvGraphicFramePr>
        <p:xfrm>
          <a:off x="491968" y="3460127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480558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716218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330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Дата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Статус до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После </a:t>
                      </a:r>
                      <a:r>
                        <a:rPr lang="en-US">
                          <a:effectLst/>
                        </a:rPr>
                        <a:t>padding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01.01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Активен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Активен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169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02.01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Активен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73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03.01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Активен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622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04.01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Заблокирован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Заблокирован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788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972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Ограничение заполнения: 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</a:rPr>
              <a:t>limit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1372" y="1245592"/>
            <a:ext cx="11274552" cy="210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задает максимальное число последовательных пропусков, которые может заполнить interpolate(). Нужен, чтобы не создавать искусственные значения в длинных разрывах наблюдений. 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limit_direction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задает направление заполнения: 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', 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или 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limit_area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заполняет только пропуски между известными точками; 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— только на границах ряда.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276902"/>
            <a:ext cx="11274552" cy="1443938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726" y="5281564"/>
            <a:ext cx="10817352" cy="210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df['sales'] = df['sales'].interpolate(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method='linear',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limit=2,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limit_direction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='forward',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>
              <a:lnSpc>
                <a:spcPct val="125000"/>
              </a:lnSpc>
            </a:pP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limit_area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='inside')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78C0E1BE-7576-1909-E382-F26E7AADE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554378"/>
              </p:ext>
            </p:extLst>
          </p:nvPr>
        </p:nvGraphicFramePr>
        <p:xfrm>
          <a:off x="445544" y="3028116"/>
          <a:ext cx="10515600" cy="2103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54329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0628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8734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Индекс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Продажи до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Продажи после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8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100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100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3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120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72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140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064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42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180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180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10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227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Обратное заполнение: </a:t>
            </a:r>
            <a:r>
              <a:rPr lang="ru-RU" sz="3000" b="1" dirty="0" err="1">
                <a:solidFill>
                  <a:srgbClr val="1A1F1E"/>
                </a:solidFill>
                <a:latin typeface="Trebuchet MS" pitchFamily="34" charset="0"/>
              </a:rPr>
              <a:t>fillna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(</a:t>
            </a:r>
            <a:r>
              <a:rPr lang="ru-RU" sz="3000" b="1" dirty="0" err="1">
                <a:solidFill>
                  <a:srgbClr val="1A1F1E"/>
                </a:solidFill>
                <a:latin typeface="Trebuchet MS" pitchFamily="34" charset="0"/>
              </a:rPr>
              <a:t>method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='</a:t>
            </a:r>
            <a:r>
              <a:rPr lang="ru-RU" sz="3000" b="1" dirty="0" err="1">
                <a:solidFill>
                  <a:srgbClr val="1A1F1E"/>
                </a:solidFill>
                <a:latin typeface="Trebuchet MS" pitchFamily="34" charset="0"/>
              </a:rPr>
              <a:t>bfill</a:t>
            </a: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')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6994"/>
            <a:ext cx="11274552" cy="16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bfill (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заменяет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ближайшим известным значением, расположенным далее по индексу.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может быть вызван через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df.bfill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в старом стиле — через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='bfill’).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Уместен в ретроспективной очистке записей или при заранее определенном следующем состоянии. В задачах прогнозирования временных рядов использование будущего значения ведет к утечке данных.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98144"/>
            <a:ext cx="11074400" cy="1311768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865" y="3048942"/>
            <a:ext cx="10817352" cy="1537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df['price'].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bfill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E6D8"/>
                </a:solidFill>
                <a:latin typeface="Courier New" pitchFamily="34" charset="0"/>
                <a:cs typeface="Courier New" pitchFamily="34" charset="-120"/>
              </a:rPr>
              <a:t># </a:t>
            </a:r>
            <a:r>
              <a:rPr lang="ru-RU" sz="1500" dirty="0">
                <a:solidFill>
                  <a:srgbClr val="9FE6D8"/>
                </a:solidFill>
                <a:latin typeface="Courier New" pitchFamily="34" charset="0"/>
                <a:cs typeface="Courier New" pitchFamily="34" charset="-120"/>
              </a:rPr>
              <a:t>Эквивалентный старый синтаксис: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df['price'].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(method='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bfill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63E21DC-DCF3-27E6-85F6-CD32C9607C5C}"/>
              </a:ext>
            </a:extLst>
          </p:cNvPr>
          <p:cNvSpPr/>
          <p:nvPr/>
        </p:nvSpPr>
        <p:spPr>
          <a:xfrm>
            <a:off x="457200" y="621411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новых версиях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предпочтительно использовать .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bfill()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параметр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ru-RU" sz="1500" b="1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</a:t>
            </a: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bfill()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распространяет следующее доступное значение назад.</a:t>
            </a:r>
            <a:endParaRPr lang="ru-RU" sz="15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B9069BF5-FA51-37E1-CCFD-14083E2AA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104785"/>
              </p:ext>
            </p:extLst>
          </p:nvPr>
        </p:nvGraphicFramePr>
        <p:xfrm>
          <a:off x="457200" y="4442460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805368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515034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6296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День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Цена до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После </a:t>
                      </a:r>
                      <a:r>
                        <a:rPr lang="en-US">
                          <a:effectLst/>
                        </a:rPr>
                        <a:t>bfill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55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120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333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120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03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120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120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298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140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140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542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69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Ближайшее значение: </a:t>
            </a: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</a:rPr>
              <a:t>method='nearest'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6994"/>
            <a:ext cx="11274552" cy="16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interpolate(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') заполняет пропуск значением ближайшего доступного наблюдения.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линейной интерполяции, метод не строит промежуточную величину. Полезен для ступенчатых сигналов, дискретизированных измерений и данных, где «среднее» между состояниями не имеет смысла.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5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использует числовые значения индекса; индекс должен отражать реальную шкалу времени или расстояния.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98144"/>
            <a:ext cx="11074400" cy="916908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865" y="3048942"/>
            <a:ext cx="10817352" cy="866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df['temperature'] = df['temperature'].interpolate(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ru-RU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method='nearest’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63E21DC-DCF3-27E6-85F6-CD32C9607C5C}"/>
              </a:ext>
            </a:extLst>
          </p:cNvPr>
          <p:cNvSpPr/>
          <p:nvPr/>
        </p:nvSpPr>
        <p:spPr>
          <a:xfrm>
            <a:off x="457200" y="6214110"/>
            <a:ext cx="112745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Линейный метод мог бы восстановить 19.7 и 21.3, а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выбирает только реально наблюдавшиеся 18 или 23.</a:t>
            </a:r>
            <a:endParaRPr lang="ru-RU" sz="15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6C68E45-B8D1-CE62-61DD-79515E0DA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62376"/>
              </p:ext>
            </p:extLst>
          </p:nvPr>
        </p:nvGraphicFramePr>
        <p:xfrm>
          <a:off x="457200" y="4074905"/>
          <a:ext cx="10515600" cy="1752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361168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432602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77894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Час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Температура до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После </a:t>
                      </a:r>
                      <a:r>
                        <a:rPr lang="en-US">
                          <a:effectLst/>
                        </a:rPr>
                        <a:t>nearest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37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18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18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398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18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756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15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23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52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362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Полиномиальная интерполяция второго порядка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13112"/>
            <a:ext cx="11274552" cy="16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Полиномиальная интерполяция строит функцию, проходящую через известные точки;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 использует квадратичную зависимость.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подходит для плавной нелинейной динамики с одним выраженным изгибом. Для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необходимо обязательно указать степень через параметр </a:t>
            </a:r>
            <a:r>
              <a:rPr lang="ru-RU" sz="15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Метод требует достаточного числа известных точек; при высокой степени возрастает риск неустойчивых значений и переобучения. </a:t>
            </a:r>
            <a:endParaRPr lang="ru-RU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98144"/>
            <a:ext cx="11074400" cy="916908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865" y="3048942"/>
            <a:ext cx="10817352" cy="866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df['sales'] = df['sales'].interpolate(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ru-RU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method='polynomial',    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ru-RU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order=2)</a:t>
            </a:r>
            <a:endParaRPr lang="ru-RU" sz="1500" dirty="0">
              <a:solidFill>
                <a:srgbClr val="E8ECE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63E21DC-DCF3-27E6-85F6-CD32C9607C5C}"/>
              </a:ext>
            </a:extLst>
          </p:cNvPr>
          <p:cNvSpPr/>
          <p:nvPr/>
        </p:nvSpPr>
        <p:spPr>
          <a:xfrm>
            <a:off x="457200" y="6214110"/>
            <a:ext cx="112745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Применять следует для коротких внутренних разрывов и обязательно сравнивать результат с линейной интерполяцией; на границах ряда и при длинных пропусках метод может давать ненадежные значения.</a:t>
            </a:r>
            <a:endParaRPr lang="ru-RU" sz="15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792C80-37FE-BE79-A2AA-F99758319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361" y="2257516"/>
            <a:ext cx="2497332" cy="580775"/>
          </a:xfrm>
          <a:prstGeom prst="rect">
            <a:avLst/>
          </a:prstGeom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4912050B-EA9D-3E97-9711-3B581AB83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922701"/>
              </p:ext>
            </p:extLst>
          </p:nvPr>
        </p:nvGraphicFramePr>
        <p:xfrm>
          <a:off x="457200" y="4019264"/>
          <a:ext cx="10515600" cy="2026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514212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265051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8191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Индекс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Продажи до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После полиномиальной интерполяции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4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0.0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53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2.0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10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NaN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4.67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1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>
                          <a:effectLst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BY" dirty="0">
                          <a:effectLst/>
                        </a:rPr>
                        <a:t>8.0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455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680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Пропущенные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000" b="1" dirty="0">
                <a:solidFill>
                  <a:srgbClr val="1A1F1E"/>
                </a:solidFill>
                <a:latin typeface="Trebuchet MS" pitchFamily="34" charset="0"/>
              </a:rPr>
              <a:t>Сравнение всех методов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1230"/>
            <a:ext cx="11274552" cy="53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должен быть итоговый слайд раздела — не столько о коде, сколько о принятии решения.</a:t>
            </a:r>
            <a:endParaRPr lang="ru-RU" sz="15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D568BA1-0CB9-E387-3CDC-D89BB050E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33060"/>
              </p:ext>
            </p:extLst>
          </p:nvPr>
        </p:nvGraphicFramePr>
        <p:xfrm>
          <a:off x="457200" y="1965960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837249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160033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83570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3298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Метод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Тип данных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Использует будущее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Риск потери/искажения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209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.dropna()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Любые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Нет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Потеря строк или признаков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3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ffill()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Упорядоченные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Нет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«Замораживание» значения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9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bfill()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Упорядоченные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Да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Data leakage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765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Интерполяция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Числовой ряд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Использует обе стороны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Ложная плавность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184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Аппроксимация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Числовой ряд с закономерностью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Зависит от модели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Ошибка спецификации модели</a:t>
                      </a: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77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Выбросы: как найти и что с ними делать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выброс и почему он важен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методов обнаружения: Z-score, IQR, модельные подходы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метода IQR и правило Тьюки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IQR в pandas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 устранения: удаление, Winsorizing, лог-преобразование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трансформер IQR для Pipeline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Выбросы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выброс и почему это важно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Определение: наблюдение, значительно отклоняющееся от общего паттерна данных.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на модели: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4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Искажение среднего и дисперсии выборки</a:t>
            </a:r>
            <a:endParaRPr lang="en-US" sz="14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коэффициентов линейной регрессии</a:t>
            </a:r>
            <a:endParaRPr lang="en-US" sz="14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Ухудшение сходимости градиентных методов оптимизации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95160" y="2011680"/>
            <a:ext cx="4736592" cy="219456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Два вида выбросов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2560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 данных — ошибка измерения или ввода (опечатка, сбой сенсора)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32461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 явления — реальная редкая, но достоверная ситуация (VIP-клиент с крупной покупкой)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Различие критично: выброс данных обычно устраняют, выброс явления может быть ценной информацией и требует иного подхода.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Выбросы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Методы обнаружения выбросов (обзор)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Статистические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(межквартильный диапазон)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основе моделей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Визуальные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1274552" cy="118872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434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— как наиболее интерпретируемый и робастный метод, применимый без сложной настройки модели.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Выбросы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Математика метода IQR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74552" cy="169164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0908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Q₃ − Q₁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= Q₁ − k · IQR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= Q₃ + k · IQR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Q₁ — первый квартиль (25-й перцентиль), </a:t>
            </a:r>
            <a:endParaRPr lang="ru-RU" sz="1400" dirty="0">
              <a:solidFill>
                <a:srgbClr val="5B65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ru-RU" sz="1400" dirty="0">
              <a:solidFill>
                <a:srgbClr val="5B65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Q₃ — третий квартиль (75-й перцентиль). </a:t>
            </a:r>
            <a:endParaRPr lang="ru-RU" sz="1400" dirty="0">
              <a:solidFill>
                <a:srgbClr val="5B65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ru-RU" sz="1400" dirty="0">
              <a:solidFill>
                <a:srgbClr val="5B65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Стандартное</a:t>
            </a: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значение k = 1.5 (умеренные выбросы), k = 3 (экстремальные выбросы).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2769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IQR устойчивее Z-score: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532749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зависит от среднего и стандартного отклонения, которые сами чувствительны к выбросам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 квартили — устойчив к самим выбросам (робастная статистика)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предположения о нормальности распределения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Выбросы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 IQR в Python (pandas)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858000" cy="338328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64008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df['income'].quantile(0.25)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df['income'].quantile(0.75)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lower_bound = Q1 - 1.5 * IQR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upper_bound = Q3 + 1.5 * IQR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df[(df["income"] &lt; lower_bound) |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(df["income"] &gt; upper_bound)]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print(f"Найдено выбросов: {len(outliers)}")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89520" y="1463040"/>
            <a:ext cx="4142232" cy="3383280"/>
          </a:xfrm>
          <a:prstGeom prst="rect">
            <a:avLst/>
          </a:prstGeom>
          <a:solidFill>
            <a:srgbClr val="EEF2F1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0020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Визуализация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1965960"/>
            <a:ext cx="3776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наглядно показывает Q1, Q3, медиану и «усы» </a:t>
            </a:r>
            <a:r>
              <a:rPr lang="en-US" sz="13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</a:t>
            </a:r>
            <a:endParaRPr lang="ru-RU" sz="13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за пределами усов — визуально </a:t>
            </a:r>
            <a:r>
              <a:rPr lang="en-US" sz="13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отмеченные</a:t>
            </a: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выбросы</a:t>
            </a:r>
            <a:endParaRPr lang="ru-RU" sz="1300" dirty="0">
              <a:solidFill>
                <a:srgbClr val="1A1F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matplotlib/seaborn: plt.boxplot() или sns.boxplot()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074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quantile() в pandas вычисляет квартили напрямую — дополнительные библиотеки для базового IQR не требуются.</a:t>
            </a:r>
            <a:endParaRPr lang="en-US"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EF8025-1205-1A50-E42B-D8F7B36F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7810"/>
            <a:ext cx="11274552" cy="11806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Выбросы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Стратегии устранения выбросов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Удаление — если ошибка ввода данных подтверждена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11274552" cy="77724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83664"/>
            <a:ext cx="10817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df[(df["income"] &gt;= lower_bound) &amp;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(df["income"] &lt;= upper_bound)]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Winsorizing / Capping — замена значений на границы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11274552" cy="77724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18104"/>
            <a:ext cx="108173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df['income_capped'] = df['income'].clip(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lower=lower_bound, upper=upper_bound)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Логарифмическое преобразование — для устранения скошенности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4187952"/>
            <a:ext cx="11274552" cy="594360"/>
          </a:xfrm>
          <a:prstGeom prst="rect">
            <a:avLst/>
          </a:prstGeom>
          <a:solidFill>
            <a:srgbClr val="1E2624"/>
          </a:solidFill>
          <a:ln w="12700">
            <a:solidFill>
              <a:srgbClr val="1E26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352544"/>
            <a:ext cx="10817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df['income_log'] = np.log1p(df['income'])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подходов: удаление теряет данные, Winsorizing/лог-преобразование сохраняют объём, но искажают распределение — выбор зависит от доли и природы выбросов.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Масштабирование: почему модели чувствительны к диапазону признаков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нужно масштабирование признаков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Z-score нормализация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— линейное приведение к диапазону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StandardScaler и MinMaxScaler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и Normalizer (обзорно)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правило выбора скейлера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Масштабирование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нужно масштабирование признаков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 разных единиц измерения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Возраст: диапазон 0–100.  Доход: диапазон 0–1 000 000. Без масштабирования признак с большим диапазоном численно доминирует в вычислении расстояний и градиентов, хотя по смыслу не важнее второго.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88036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Чувствительны к масштабу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спуск (медленная/нестабильная сходимость)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и другие методы на основе расстояний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и кластеризация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Регуляризованные модели (Lasso, Ridge)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Нейронные сети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Нечувствительны к масштабу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5204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Деревья решений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 (Random Forest)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 (GBM, XGBoost и др.)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разбиения по признаку зависят только от порядка значений, а не от их масштаба.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Масштабирование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StandardScaler: Z-score нормализация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0" y="1554480"/>
            <a:ext cx="7040880" cy="118872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6916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μ — среднее, σ — стандартное отклонение обучающей выборки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1274552" cy="96012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преобразования признак имеет μ = 0 и σ =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использовать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07492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распределены примерно нормально (без сильной скошенности)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Алгоритмы, основанные на расстояниях и градиентных методах: линейная/логистическая регрессия, SVM, KNN, нейросети, PCA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Масштабирование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StandardScaler: реализация в коде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356616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630936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X_train_scaled = scaler.fit_transform(X_train)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X_test_scaled = scaler.transform(X_test)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print("Mean:", scaler.mean_)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print("Var:", scaler.var_)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508760"/>
            <a:ext cx="4069080" cy="35661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Атрибуты после fit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210312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 — среднее по каждому признаку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 — дисперсия по каждому признаку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 — используемое стандартное отклонение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fit только на train, затем transform на test — тот же принцип, что и для SimpleImputer (см. раздел 1), иначе — утечка данных (data leakage).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Масштабирование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MinMaxScaler: масштабирование в диапазон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(x − x_min) / (x_max − x_min) × (max − min) + min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1274552" cy="7772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умолчанию: </a:t>
            </a: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результата [0, 1] (параметры min=0, max=1)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Чувствительность к выбросам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11274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x_min и x_max вычисляются напрямую из данных — один экстремальный выброс растягивает диапазон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сжимает все остальные значения в узкий поддиапазон, снижая их различимость для модели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связь с разделом про выбросы (IQR): перед MinMaxScaler стоит обработать выбросы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Масштабирование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MinMaxScaler: код и сравнение со StandardScaler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74552" cy="155448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108173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MinMaxScaler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mm_scaler = MinMaxScaler(feature_range=(0, 1))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X_train_mm = mm_scaler.fit_transform(X_train)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064240" cy="3200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Критерий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StandardScaler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MinMaxScaler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Диапазон результата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ограничен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фиксированный (напр. [0,1])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Чувствительность к выбросам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Предположение о распределении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нормальное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Применение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линейные модели, SVM, PCA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нейросети, алгоритмы с ограниченным входом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Масштабирование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Дополнительные скейлеры и практический выбор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RobustScaler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49240" cy="7772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(x − median) / IQR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 медиану и IQR — устойчив к выбросам.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5349240" cy="96012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19272"/>
            <a:ext cx="4892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RobustScaler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robust_scaler = RobustScaler()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1783080"/>
            <a:ext cx="5349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Масштабирует по строкам (не по столбцам), нормализуя вектор наблюдения до единичной нормы L1 или L2. Используется, когда важна ориентация вектора признаков, а не абсолютный масштаб.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11274552" cy="19202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правило выбора скейлера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выбросы → RobustScaler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строгий диапазон (напр. для нейросетей) → MinMaxScaler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примерно нормальны, алгоритм на расстояниях/градиентах → StandardScaler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Дерево-based модели (RF, GBM) → масштабирование не требуется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Кодирование категориальных признаков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категориальных переменных: номинальные и ординальные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— теория и код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 — теория и код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Продвинутые методы: TargetEncoder, Frequency Encoding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Кодирование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Типы категориальных переменных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55448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Номинальные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естественного порядка. Примеры: город, цвет, тип платежа.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Ординальные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естественным порядком. Примеры: уровень образования, размер одежды (S/M/L), рейтинг удовлетворённости.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1274552" cy="155448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тип переменной определяет метод кодирования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номинальных признаков присвоение чисел создаёт ложный порядок, который модель интерпретирует как метрическое отношение. Для ординальных признаков, напротив, важно сохранить порядок, поэтому подходящий метод — числовое кодирование, отражающее ранг.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Кодирование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OneHotEncoder: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создание отдельного бинарного признака (0/1) для каждой категории.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с k уровнями  →  k (или k − 1) бинарных признаков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3492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Dummy variable trap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линейных моделях полный набор k дамми-признаков создаёт мультиколлинеарность (один признак — линейная комбинация остальных). Решение: </a:t>
            </a:r>
            <a:r>
              <a:rPr lang="ru-RU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исключить один признак</a:t>
            </a: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</a:t>
            </a:r>
            <a:r>
              <a:rPr lang="ru-RU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ить</a:t>
            </a: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− 1 признак.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200400"/>
            <a:ext cx="53492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 размерности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7947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высокой кардинальности (много уникальных категорий) One-Hot порождает очень широкую разреженную матрицу — </a:t>
            </a:r>
            <a:r>
              <a:rPr lang="ru-RU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«проклятье размерности»</a:t>
            </a: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рост вычислительной нагрузки и риска переобучения.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Кодирование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OneHotEncoder: код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356616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630936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OneHotEncoder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ohe = OneHotEncoder(drop='first',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sparse_output=False,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handle_unknown='ignore')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X_encoded = ohe.fit_transform(df[['city']])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print(ohe.get_feature_names_out())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508760"/>
            <a:ext cx="4069080" cy="35661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параметры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210312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handle_unknown='ignore' — корректно обрабатывает новые категории на test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sparse_output — плотный или разреженный формат вывода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min_frequency — группировка редких категорий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drop='first' </a:t>
            </a:r>
            <a:r>
              <a:rPr lang="en-US" sz="1400" i="1" dirty="0" err="1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устраняет</a:t>
            </a: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«ловушку фиктивных переменных»</a:t>
            </a: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</a:t>
            </a:r>
            <a:r>
              <a:rPr lang="en-US" sz="1400" b="1" i="1" u="sng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линейных</a:t>
            </a:r>
            <a:r>
              <a:rPr lang="en-US" sz="1400" i="1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моделей.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Кодирование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OrdinalEncoder: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замена категорий целыми числами с учётом порядка.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965960"/>
            <a:ext cx="9418320" cy="12801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10312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{c1, ..., ck} → {0, 1, ..., k−1}</a:t>
            </a:r>
            <a:endParaRPr lang="en-US" sz="2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(отображение, сохраняющее ранговый порядок)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1274552" cy="21945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Риск применения к номинальным признакам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применить OrdinalEncoder к номинальному признаку (например, город), возникает ложный порядок: модель будет воспринимать разницу между кодами как метрическое расстояние, хотя реального порядка между категориями нет. Это может привести к некорректным выводам линейных моделей и искажённым разбиениям в деревьях.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Кодирование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OrdinalEncoder: код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766560" cy="402336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63093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OrdinalEncoder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education_order = [[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'High School', 'Bachelor',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'Master', 'PhD']]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ord_encoder = OrdinalEncoder(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categories=education_order,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handle_unknown='use_encoded_value',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unknown_value=-1)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df['education_encoded'] = \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ord_encoder.fit_transform(df[['education']])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1463040"/>
            <a:ext cx="4069080" cy="40233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Важно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205740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Явное задание порядка через categories критично для корректности — без него sklearn использует лексикографический (алфавитный) порядок, который может не совпадать с реальным ранговым порядком категорий (High School &lt; Bachelor &lt; Master &lt; PhD).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Кодирование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Продвинутые методы кодирования и выбор стратегии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TargetEncoder — кодирование через среднее значение целевой переменной по категории; риск утечки данных, требует кросс-валидации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vs OrdinalEncoder — отличие в назначении: Label Encoding применяется к целевой переменной (y), OrdinalEncoder — к признакам (X)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/ Count Encoding — кодирование по частоте встречаемости категории в данных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064240" cy="26517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Тип переменной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Кардинальность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Модель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Рекомендуемый энкодер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Номинальная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 (&lt; 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OneHotEncoder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Номинальная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Линейная / деревья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TargetEncoder, Frequency Encoding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Ординальная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OrdinalEncoder (с явным порядком)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Извлечение признаков (Feature Engineering)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создавать новые признаки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признаков из datetime и циклическое кодирование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Полиномиальные признаки (PolynomialFeatures)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взаимодействия (Interaction Features)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чек-лист Feature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создавать новые признаки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74552" cy="91440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Качество признаков часто важнее выбора алгоритма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Виды feature engineering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95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Извлечение из даты/времени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63440" y="320954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год, месяц, день недели, циклическое кодирование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13048"/>
            <a:ext cx="11274552" cy="548640"/>
          </a:xfrm>
          <a:prstGeom prst="rect">
            <a:avLst/>
          </a:prstGeom>
          <a:solidFill>
            <a:srgbClr val="F7F7F5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679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Полиномиальные признаки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386791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степенные комбинации для нелинейных зависимостей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471416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26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Взаимодействия (interactions)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63440" y="452628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произведения/отношения признаков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129784"/>
            <a:ext cx="11274552" cy="548640"/>
          </a:xfrm>
          <a:prstGeom prst="rect">
            <a:avLst/>
          </a:prstGeom>
          <a:solidFill>
            <a:srgbClr val="F7F7F5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846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Агрегации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63440" y="518464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статистики по группам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788152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430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Домен-специфичные признаки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63440" y="584301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основаны на знании конкретной предметной области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Извлечение признаков из datetime: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сырые timestamp плохо воспринимаются моделями напрямую. Решение — разложение на компоненты: год, месяц, день, день недели, час, is_weekend.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4552" cy="10515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505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Циклические признаки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и час — периодические величины. Обычное числовое кодирование искажает "близость": декабрь (12) и январь (1) должны быть рядом, но численно далеки.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611880"/>
            <a:ext cx="8503920" cy="137160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7490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x_sin = sin(2π · t / T)</a:t>
            </a:r>
            <a:endParaRPr lang="en-US" sz="2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x_cos = cos(2π · t / T)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51206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T — период (12 для месяцев, 24 для часов). Пара sin/cos сохраняет цикличность: значения на "стыке" периода оказываются близкими.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Извлечение признаков из datetime: код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949440" cy="402336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64922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df['year'] = df['date'].dt.year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df['month'] = df['date'].dt.month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df['day'] = df['date'].dt.day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df['dayofweek'] = df['date'].dt.dayofweek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df['is_weekend'] = df['dayofweek']\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.isin([5, 6]).astype(int)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df['quarter'] = df['date'].dt.quarter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Циклическое кодирование месяца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df['month_sin'] = np.sin(2*np.pi*df['month']/12)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df['month_cos'] = np.cos(2*np.pi*df['month']/12)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80960" y="1463040"/>
            <a:ext cx="3931920" cy="40233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это работает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09560" y="20574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sin/cos образует точку на окружности единичного радиуса. Соседние по времени точки (напр. декабрь и январь) оказываются рядом на окружности — непрерывность цикла сохраняется, в отличие от простого числового кодирования 1..12.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Полиномиальные признаки: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расширение пространства признаков степенными комбинациями для захвата нелинейных зависимостей.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45920" y="2057400"/>
            <a:ext cx="8869680" cy="12344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1945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x1, x2, степень 2: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{1, x1, x2, x1², x1·x2, x2²}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признаков для степени d и n исходных признаков: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3840480"/>
            <a:ext cx="6675120" cy="7772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39776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 + d, d)   — биномиальный коэффициент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11274552" cy="91440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1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экспоненциальный рост размерности → переобучение, необходимость регуляризации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PolynomialFeatures: код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4552" cy="269748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1081735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PolynomialFeatures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 = PolynomialFeatures(degree=2,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include_bias=False,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500" dirty="0" err="1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interaction_only</a:t>
            </a: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=False)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X_poly = poly.fit_transform(X[['x1', 'x2']])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print(poly.get_feature_names_out())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['x1', 'x2', 'x1^2', 'x1 x2', 'x2^2']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11274552" cy="10058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interaction_only=True — 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оставляет только перекрёстные члены (x1·x2), без степеней (x1², x2²)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Признаки взаимодействия: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произведение или отношение двух признаков может нести информацию, которой нет в них по отдельности.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7772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price_per_sqm = price / area — интерпретируемее двух исходных признаков по отдельности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модель с взаимодействием: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3474720"/>
            <a:ext cx="9784080" cy="100584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61188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β0 + β1·x1 + β2·x2 + β3·(x1·x2) + 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β3 отражает, как эффект x1 на y меняется в зависимости от уровня x2 — без члена взаимодействия эта зависимость была бы невидима для модели.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Создание interaction-признаков: код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949440" cy="402336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64922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df['price_per_sqm'] = df['price'] / df['area']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df['income_age_interaction'] = \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df['income'] * df['age']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Только взаимодействия через PolynomialFeatures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poly_interact = PolynomialFeatures(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degree=2, interaction_only=True,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include_bias=False)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X_interact = poly_interact.fit_transform(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X[['income', 'age']])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463040"/>
            <a:ext cx="3931920" cy="40233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Domain-driven признаки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09560" y="20574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Агрегации по группам через groupby + transform (например, средний доход по региону). Скользящие статистики (rolling mean/std) — для признаков временных рядов.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Практический чек-лист 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Перед добавлением признака проверить: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Интерпретируемость — можно ли объяснить смысл признака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утечки данных (data leakage) — не использует ли признак информацию из будущего/целевой переменной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с целевой переменной — насколько признак потенциально информативен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Мультиколлинеарность — не дублирует ли признак информацию других признаков (VIF)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1274552" cy="173736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 отбора признаков (задел на дальнейшее изучение)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— отбор k лучших признаков по статистическому тесту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mutual_info — оценка взаимной информации между признаком и целью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деревьев — важность признаков из ансамблевых моделей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в Scikit-learn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нужен Pipeline: устранение утечки данных и дублирования кода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ColumnTransformer: объединение числовых и категориальных признаков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Pipeline с моделью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GridSearchCV: подбор гиперпараметров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нужен Pipeline: теория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1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Проблемы без Pipeline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утечки данных между train и test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Дублирование кода при повторной предобработке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воспроизводимости результатов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порядка операций между train/test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как последовательность трансформаций + финальный estimator: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3931920"/>
            <a:ext cx="9235440" cy="96012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40690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f_model( f_k( ... f_2( f_1(X) ) ... ) 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5074920"/>
            <a:ext cx="11274552" cy="96012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230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Гарантия: 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fit выполняется только на train через кросс-валидацию — устраняет data leakage системно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ColumnTransformer: объединение разнородных признаков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числовые и категориальные признаки требуют разной обработки.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457200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47672"/>
            <a:ext cx="10817352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OneHotEncoder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numeric_features = ['age', 'income']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categorical_features = ['city', 'education']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numeric_pipeline = Pipeline(steps=[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('imputer', SimpleImputer(strategy='median')),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('scaler', StandardScaler())])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categorical_pipeline = Pipeline(steps=[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('imputer', SimpleImputer(strategy='most_frequent')),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('encoder', OneHotEncoder(handle_unknown='ignore'))])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preprocessor = ColumnTransformer(transformers=[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('num', numeric_pipeline, numeric_features),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('cat', categorical_pipeline, categorical_features)])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Полный Pipeline с моделью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4552" cy="324612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10817352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full_pipeline = Pipeline(steps=[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('preprocessing', preprocessor),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('classifier', LogisticRegression(max_iter=1000))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full_pipeline.fit(X_train, y_train)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full_pipeline.predict(X_test)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full_pipeline.score(X_test, y_test)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937760"/>
            <a:ext cx="11274552" cy="109728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вызов fit / predict </a:t>
            </a:r>
            <a:r>
              <a:rPr lang="en-US" sz="1500" dirty="0">
                <a:solidFill>
                  <a:srgbClr val="1A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всей цепочки — весь пайплайн из разделов 1–5 (пропуски, выбросы, масштабирование, кодирование, feature engineering) объединён в одном объекте.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+ GridSearchCV: подбор гиперпараметров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858000" cy="4114800"/>
          </a:xfrm>
          <a:prstGeom prst="rect">
            <a:avLst/>
          </a:prstGeom>
          <a:solidFill>
            <a:srgbClr val="1E26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640080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'preprocessing__num__imputer__strategy':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['mean', 'median'],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'classifier__C': [0.1, 1, 10]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grid_search = GridSearchCV(full_pipeline, param_grid,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cv=5, scoring='f1')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grid_search.fit(X_train, y_train)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print(grid_search.best_params_)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1463040"/>
            <a:ext cx="4023360" cy="4114800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Ключевая идея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18120" y="20574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гиперпараметров включая шаги предобработки — без риска утечки, так как fit каждой комбинации происходит внутри кросс-валидации.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1812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Сохранение пайплайна: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43159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E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joblib.dump(full_pipeline, 'model.pkl')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7 · Итоги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Итоговая шпаргалка (Cheat Sheet)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064240" cy="4937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Проблема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Метод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Класс sklearn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Пропуски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mean/median/most_frequent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SimpleImputer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Выбросы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clipping/removal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кастомный трансформер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 признаков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/ Min-Max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StandardScaler, MinMaxScaler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Категории (номинальные)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OneHotEncoder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Категории (ординальные)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порядковое кодирование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OrdinalEncoder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Дата/время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разложение + циклическое кодирование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pandas.dt, sin/cos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Нелинейности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полиномы, взаимодействия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PolynomialFeatures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Оркестрация всего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единый пайплайн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E6E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Pipeline, ColumnTransformer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Заключение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solidFill>
            <a:srgbClr val="133B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1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Качественная предобработка данных — фундамент, определяющий потолок качества любой модели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Рекомендации для дальнейшего изучения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IterativeImputer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TargetEncoder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F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sklearn.set_config (автоматизация вывода)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Источники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 User Guide — Preprocessing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0566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 — Imputation of missing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40410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u="sng" dirty="0">
                <a:solidFill>
                  <a:srgbClr val="4FD1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 — Pipelines and composite estimators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7190</TotalTime>
  <Words>6553</Words>
  <Application>Microsoft Office PowerPoint</Application>
  <PresentationFormat>Широкоэкранный</PresentationFormat>
  <Paragraphs>975</Paragraphs>
  <Slides>65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65</vt:i4>
      </vt:variant>
    </vt:vector>
  </HeadingPairs>
  <TitlesOfParts>
    <vt:vector size="70" baseType="lpstr">
      <vt:lpstr>Arial</vt:lpstr>
      <vt:lpstr>Calibri</vt:lpstr>
      <vt:lpstr>Courier New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Olga Golda</cp:lastModifiedBy>
  <cp:revision>14</cp:revision>
  <dcterms:created xsi:type="dcterms:W3CDTF">2026-07-22T10:49:12Z</dcterms:created>
  <dcterms:modified xsi:type="dcterms:W3CDTF">2026-08-31T18:13:03Z</dcterms:modified>
</cp:coreProperties>
</file>